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443" r:id="rId3"/>
    <p:sldId id="445" r:id="rId4"/>
    <p:sldId id="444" r:id="rId5"/>
    <p:sldId id="304" r:id="rId6"/>
  </p:sldIdLst>
  <p:sldSz cx="9144000" cy="6858000" type="screen4x3"/>
  <p:notesSz cx="9309100" cy="70532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360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54296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5273541" y="0"/>
            <a:ext cx="4033943" cy="354296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C03E56B3-9925-423A-883D-FED04CF3B60E}" type="datetimeFigureOut">
              <a:rPr lang="el-GR" smtClean="0"/>
              <a:pPr/>
              <a:t>7/11/2022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3067050" y="881063"/>
            <a:ext cx="3175000" cy="2381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930910" y="3394384"/>
            <a:ext cx="7447280" cy="2777222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6698968"/>
            <a:ext cx="4033943" cy="35429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5273541" y="6698968"/>
            <a:ext cx="4033943" cy="35429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0512D920-E2F5-4450-8A56-B2BE96BCDD8D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xmlns="" val="118508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99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xmlns="" id="{C330E7F1-CF6D-470E-9317-6727EC4CE113}"/>
              </a:ext>
            </a:extLst>
          </p:cNvPr>
          <p:cNvSpPr/>
          <p:nvPr userDrawn="1"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2930" y="1367981"/>
            <a:ext cx="4021454" cy="3576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6F6F6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xmlns="" id="{9BD24B53-7F25-4AB9-B5C9-6B105D53E25A}"/>
              </a:ext>
            </a:extLst>
          </p:cNvPr>
          <p:cNvSpPr/>
          <p:nvPr userDrawn="1"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19600" y="234188"/>
            <a:ext cx="457263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3204" y="1316253"/>
            <a:ext cx="6809105" cy="414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99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xmlns="" id="{EBDF6487-ACC0-4A09-9DA7-99C2E7EC033B}"/>
              </a:ext>
            </a:extLst>
          </p:cNvPr>
          <p:cNvSpPr/>
          <p:nvPr userDrawn="1"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mailto:a.ampatzoglou@uom.edu.g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7967"/>
            <a:ext cx="9141460" cy="2455545"/>
          </a:xfrm>
          <a:custGeom>
            <a:avLst/>
            <a:gdLst/>
            <a:ahLst/>
            <a:cxnLst/>
            <a:rect l="l" t="t" r="r" b="b"/>
            <a:pathLst>
              <a:path w="9141460" h="2455545">
                <a:moveTo>
                  <a:pt x="0" y="2455163"/>
                </a:moveTo>
                <a:lnTo>
                  <a:pt x="9140952" y="2455163"/>
                </a:lnTo>
                <a:lnTo>
                  <a:pt x="9140952" y="0"/>
                </a:lnTo>
                <a:lnTo>
                  <a:pt x="0" y="0"/>
                </a:lnTo>
                <a:lnTo>
                  <a:pt x="0" y="2455163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3516" y="1801814"/>
            <a:ext cx="799680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lang="el-GR" sz="3600" spc="-5" dirty="0">
                <a:solidFill>
                  <a:srgbClr val="FFFFFF"/>
                </a:solidFill>
              </a:rPr>
              <a:t>Σχεδιαστικές Αποφάσεις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5678" y="3200400"/>
            <a:ext cx="8759851" cy="20973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640" algn="r">
              <a:lnSpc>
                <a:spcPct val="100000"/>
              </a:lnSpc>
              <a:spcBef>
                <a:spcPts val="95"/>
              </a:spcBef>
            </a:pPr>
            <a:r>
              <a:rPr lang="el-GR" sz="2400" spc="-5" dirty="0">
                <a:solidFill>
                  <a:srgbClr val="FFFFFF"/>
                </a:solidFill>
                <a:latin typeface="Georgia"/>
                <a:cs typeface="Georgia"/>
              </a:rPr>
              <a:t>Β</a:t>
            </a:r>
            <a:r>
              <a:rPr lang="en-US" sz="2400" spc="-5" dirty="0">
                <a:solidFill>
                  <a:srgbClr val="FFFFFF"/>
                </a:solidFill>
                <a:latin typeface="Georgia"/>
                <a:cs typeface="Georgia"/>
              </a:rPr>
              <a:t>Sc: Software Quality</a:t>
            </a:r>
            <a:endParaRPr sz="2400" dirty="0">
              <a:latin typeface="Georgia"/>
              <a:cs typeface="Georgia"/>
            </a:endParaRPr>
          </a:p>
          <a:p>
            <a:pPr algn="r">
              <a:lnSpc>
                <a:spcPct val="100000"/>
              </a:lnSpc>
              <a:spcBef>
                <a:spcPts val="10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L="12700" algn="r">
              <a:lnSpc>
                <a:spcPct val="100000"/>
              </a:lnSpc>
            </a:pPr>
            <a:endParaRPr lang="el-GR" sz="2400" spc="-45" dirty="0">
              <a:solidFill>
                <a:srgbClr val="6F6F6F"/>
              </a:solidFill>
              <a:latin typeface="Times New Roman"/>
              <a:cs typeface="Times New Roman"/>
            </a:endParaRPr>
          </a:p>
          <a:p>
            <a:pPr marL="12700" algn="r">
              <a:lnSpc>
                <a:spcPct val="100000"/>
              </a:lnSpc>
            </a:pPr>
            <a:r>
              <a:rPr lang="el-GR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Απόστολος Αμπατζόγλου</a:t>
            </a:r>
          </a:p>
          <a:p>
            <a:pPr marL="12700" algn="r">
              <a:lnSpc>
                <a:spcPct val="100000"/>
              </a:lnSpc>
            </a:pPr>
            <a:r>
              <a:rPr lang="el-GR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Επίκουρος Καθηγητής</a:t>
            </a:r>
          </a:p>
          <a:p>
            <a:pPr marL="12700" algn="r">
              <a:lnSpc>
                <a:spcPct val="100000"/>
              </a:lnSpc>
            </a:pPr>
            <a:r>
              <a:rPr lang="en-US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hlinkClick r:id="rId4"/>
              </a:rPr>
              <a:t>a.ampatzoglou@uom.edu.gr</a:t>
            </a:r>
            <a:r>
              <a:rPr lang="en-US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 </a:t>
            </a:r>
            <a:endParaRPr lang="el-GR" spc="-45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xmlns="" id="{D8033EF0-4575-4FFB-839A-D7833DC6A6B8}"/>
              </a:ext>
            </a:extLst>
          </p:cNvPr>
          <p:cNvSpPr/>
          <p:nvPr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xmlns="" id="{79AC5805-B205-444A-941B-DAA48B646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9600" y="234188"/>
            <a:ext cx="4572634" cy="492443"/>
          </a:xfrm>
        </p:spPr>
        <p:txBody>
          <a:bodyPr/>
          <a:lstStyle/>
          <a:p>
            <a:pPr algn="r"/>
            <a:r>
              <a:rPr lang="en-US" altLang="en-US" dirty="0"/>
              <a:t>Example-1</a:t>
            </a:r>
            <a:endParaRPr lang="el-GR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C7067727-C3A0-9215-53E1-3D8710CA8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16253"/>
            <a:ext cx="8610600" cy="2693045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Imagine that you’re creating a furniture shop simulator. Your code consists of classes that represent: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- A family of related products, say: Chair + Sofa +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CoffeeTable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- Several variants of this family. For example, the products are available in these variants: Modern, Victorian,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ArtDeco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dirty="0"/>
          </a:p>
          <a:p>
            <a:endParaRPr lang="el-GR" dirty="0"/>
          </a:p>
        </p:txBody>
      </p:sp>
      <p:pic>
        <p:nvPicPr>
          <p:cNvPr id="1030" name="Picture 6" descr="Product families and their variants.">
            <a:extLst>
              <a:ext uri="{FF2B5EF4-FFF2-40B4-BE49-F238E27FC236}">
                <a16:creationId xmlns:a16="http://schemas.microsoft.com/office/drawing/2014/main" xmlns="" id="{70508204-FC82-218E-9E24-5600CC60F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76600"/>
            <a:ext cx="4000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08F872A-B583-468E-1D70-9C1BCE4A9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316253"/>
            <a:ext cx="8763634" cy="4616648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You need a way to create individual furniture objects so that they match other objects of the same family. Customers get quite mad when they receive non-matching furniture.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Also, you don’t want to change existing code when adding new products or families of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products to the program.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Furniture vendors update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their catalogs very often,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you wouldn’t want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change the core code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each time it happens.</a:t>
            </a:r>
            <a:endParaRPr lang="el-G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DB09EB2B-5A1B-7606-E2EF-358957F11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9600" y="234188"/>
            <a:ext cx="4572634" cy="492443"/>
          </a:xfrm>
        </p:spPr>
        <p:txBody>
          <a:bodyPr/>
          <a:lstStyle/>
          <a:p>
            <a:pPr algn="r"/>
            <a:r>
              <a:rPr lang="en-US" altLang="en-US" dirty="0"/>
              <a:t>Example-1</a:t>
            </a:r>
            <a:endParaRPr lang="el-G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E7C29AF0-7B41-CFA9-9464-DCAD0F349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03468" y="3410505"/>
            <a:ext cx="54102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9372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0" y="234188"/>
            <a:ext cx="4572634" cy="492443"/>
          </a:xfrm>
        </p:spPr>
        <p:txBody>
          <a:bodyPr/>
          <a:lstStyle/>
          <a:p>
            <a:pPr algn="r"/>
            <a:r>
              <a:rPr lang="en-US" altLang="en-US" dirty="0"/>
              <a:t>Example-2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297" y="1471910"/>
            <a:ext cx="8763634" cy="3954929"/>
          </a:xfrm>
        </p:spPr>
        <p:txBody>
          <a:bodyPr/>
          <a:lstStyle/>
          <a:p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Δημιουργία σύνθετων αντικειμένων σε ένα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fast food </a:t>
            </a: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εστιατόριο.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Ένα τυπικό γεύμα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μενού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απαρτίζεται από το κυρίως τμήμα (γύρος ή σουβλάκι, το εξωτερικό (πίττα ή ψωμάκι), την σαλάτα (χτυπητή, μαγιονέζα ή τζατζίκι), συνοδευτικό ποτό (μπύρα ή κόκα κόλα).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Δημιουργήσετε </a:t>
            </a: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κώδικα ο οποίος θα αυτοματοποιεί τη κατασκευή </a:t>
            </a:r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των παρακάτω 2 μενού: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GyrosMenu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l-GR" dirty="0" err="1" smtClean="0">
                <a:solidFill>
                  <a:schemeClr val="bg1">
                    <a:lumMod val="50000"/>
                  </a:schemeClr>
                </a:solidFill>
              </a:rPr>
              <a:t>Γυρος</a:t>
            </a:r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l-GR" dirty="0" err="1" smtClean="0">
                <a:solidFill>
                  <a:schemeClr val="bg1">
                    <a:lumMod val="50000"/>
                  </a:schemeClr>
                </a:solidFill>
              </a:rPr>
              <a:t>Πιττα</a:t>
            </a:r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, Χτυπητή, </a:t>
            </a:r>
            <a:r>
              <a:rPr lang="el-GR" dirty="0" err="1" smtClean="0">
                <a:solidFill>
                  <a:schemeClr val="bg1">
                    <a:lumMod val="50000"/>
                  </a:schemeClr>
                </a:solidFill>
              </a:rPr>
              <a:t>Κοκα</a:t>
            </a:r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l-GR" dirty="0" err="1" smtClean="0">
                <a:solidFill>
                  <a:schemeClr val="bg1">
                    <a:lumMod val="50000"/>
                  </a:schemeClr>
                </a:solidFill>
              </a:rPr>
              <a:t>Κολα</a:t>
            </a:r>
            <a:endParaRPr lang="el-GR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</a:rPr>
              <a:t>SouvlakiMenu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Σουβλ</a:t>
            </a:r>
            <a:r>
              <a:rPr lang="el-GR" dirty="0" smtClean="0">
                <a:solidFill>
                  <a:schemeClr val="bg1">
                    <a:lumMod val="50000"/>
                  </a:schemeClr>
                </a:solidFill>
              </a:rPr>
              <a:t>άκι, Ψωμάκι, Μαγιονέζα, </a:t>
            </a:r>
            <a:r>
              <a:rPr lang="el-GR" dirty="0" err="1" smtClean="0">
                <a:solidFill>
                  <a:schemeClr val="bg1">
                    <a:lumMod val="50000"/>
                  </a:schemeClr>
                </a:solidFill>
              </a:rPr>
              <a:t>Μπυρα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0432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40" y="2209800"/>
            <a:ext cx="9141460" cy="2539798"/>
          </a:xfrm>
          <a:prstGeom prst="rect">
            <a:avLst/>
          </a:prstGeom>
          <a:solidFill>
            <a:srgbClr val="CC0000"/>
          </a:solidFill>
        </p:spPr>
        <p:txBody>
          <a:bodyPr vert="horz" wrap="square" lIns="0" tIns="198755" rIns="0" bIns="0" rtlCol="0">
            <a:spAutoFit/>
          </a:bodyPr>
          <a:lstStyle/>
          <a:p>
            <a:pPr marL="2546350" algn="l">
              <a:lnSpc>
                <a:spcPct val="100000"/>
              </a:lnSpc>
              <a:spcBef>
                <a:spcPts val="1565"/>
              </a:spcBef>
            </a:pPr>
            <a:r>
              <a:rPr lang="el-GR" sz="3800" dirty="0">
                <a:solidFill>
                  <a:srgbClr val="FFFFFF"/>
                </a:solidFill>
              </a:rPr>
              <a:t/>
            </a:r>
            <a:br>
              <a:rPr lang="el-GR" sz="3800" dirty="0">
                <a:solidFill>
                  <a:srgbClr val="FFFFFF"/>
                </a:solidFill>
              </a:rPr>
            </a:br>
            <a:r>
              <a:rPr lang="el-GR" sz="3800" dirty="0">
                <a:solidFill>
                  <a:srgbClr val="FFFFFF"/>
                </a:solidFill>
              </a:rPr>
              <a:t>        Ερωτήσεις</a:t>
            </a:r>
            <a:br>
              <a:rPr lang="el-GR" sz="3800" dirty="0">
                <a:solidFill>
                  <a:srgbClr val="FFFFFF"/>
                </a:solidFill>
              </a:rPr>
            </a:br>
            <a:r>
              <a:rPr lang="el-GR" sz="3800" dirty="0">
                <a:solidFill>
                  <a:srgbClr val="FFFFFF"/>
                </a:solidFill>
              </a:rPr>
              <a:t/>
            </a:r>
            <a:br>
              <a:rPr lang="el-GR" sz="3800" dirty="0">
                <a:solidFill>
                  <a:srgbClr val="FFFFFF"/>
                </a:solidFill>
              </a:rPr>
            </a:b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CE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231</Words>
  <Application>Microsoft Office PowerPoint</Application>
  <PresentationFormat>Προβολή στην οθόνη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6" baseType="lpstr">
      <vt:lpstr>Office Theme</vt:lpstr>
      <vt:lpstr>Σχεδιαστικές Αποφάσεις</vt:lpstr>
      <vt:lpstr>Example-1</vt:lpstr>
      <vt:lpstr>Example-1</vt:lpstr>
      <vt:lpstr>Example-2</vt:lpstr>
      <vt:lpstr>         Ερωτήσεις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1 - Introduction to Software Engineering</dc:title>
  <dc:creator>Apostolis Ampatzoglou</dc:creator>
  <cp:lastModifiedBy>student</cp:lastModifiedBy>
  <cp:revision>26</cp:revision>
  <cp:lastPrinted>2022-11-07T11:02:49Z</cp:lastPrinted>
  <dcterms:created xsi:type="dcterms:W3CDTF">2019-10-02T21:10:08Z</dcterms:created>
  <dcterms:modified xsi:type="dcterms:W3CDTF">2022-11-07T18:03:14Z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2019-10-02T00:00:00Z</vt:filetime>
  </property>
</Properties>
</file>